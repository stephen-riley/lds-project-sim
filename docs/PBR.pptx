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463"/>
  </p:normalViewPr>
  <p:slideViewPr>
    <p:cSldViewPr snapToGrid="0" snapToObjects="1">
      <p:cViewPr varScale="1">
        <p:scale>
          <a:sx n="110" d="100"/>
          <a:sy n="110" d="100"/>
        </p:scale>
        <p:origin x="1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B361A-F820-D843-98FE-DE16AB84BBB5}" type="datetimeFigureOut">
              <a:rPr lang="en-US" smtClean="0"/>
              <a:t>11/3/21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BD040-06E4-F84B-BD09-D89A0BB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3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RPG == Role Playing Game</a:t>
            </a:r>
          </a:p>
          <a:p>
            <a:endParaRPr lang="en-US" dirty="0"/>
          </a:p>
          <a:p>
            <a:r>
              <a:rPr lang="en-US" dirty="0"/>
              <a:t>Quote from Wikipedia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Program threw 112,500,000 dice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BD040-06E4-F84B-BD09-D89A0BB9F3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3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2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6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3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1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0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8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3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0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1FD8A-99C9-9743-ADA1-C8BC863ED6B0}" type="datetimeFigureOut">
              <a:rPr lang="en-US" smtClean="0"/>
              <a:t>11/3/21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5DE2E-C9C6-1746-8CED-A61674CAB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4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hen-riley/lds-project-si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28EB-ABB9-CD41-8A63-DAC0696ED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WAARNG G5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18 U.S.C. § 871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F2C49-2E35-2F43-BDD2-9EDAD3952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SecArmy</a:t>
            </a:r>
            <a:r>
              <a:rPr lang="en-US" dirty="0"/>
              <a:t> LDS Exercise</a:t>
            </a:r>
          </a:p>
        </p:txBody>
      </p:sp>
      <p:pic>
        <p:nvPicPr>
          <p:cNvPr id="1026" name="Picture 2" descr="Washington National Guard - Wikipedia">
            <a:extLst>
              <a:ext uri="{FF2B5EF4-FFF2-40B4-BE49-F238E27FC236}">
                <a16:creationId xmlns:a16="http://schemas.microsoft.com/office/drawing/2014/main" id="{0EEEF431-1FFB-7440-A572-8754D54B7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65286" y="4571998"/>
            <a:ext cx="2046657" cy="201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71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E89D-BA01-4548-8BF2-5317DB9D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PBR as RPG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59DF7-DE34-8A47-9EFE-78D1EFF48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Built a program that conducted a Monte Carlo simulation of the problem</a:t>
            </a:r>
          </a:p>
          <a:p>
            <a:pPr lvl="1"/>
            <a:r>
              <a:rPr lang="en-US" dirty="0"/>
              <a:t>“…use randomness to solve problems that might be deterministic in principle”</a:t>
            </a:r>
          </a:p>
          <a:p>
            <a:pPr lvl="1"/>
            <a:r>
              <a:rPr lang="en-US" dirty="0"/>
              <a:t>Used for very complicated problems (cf. complicated vs. complex)</a:t>
            </a:r>
          </a:p>
          <a:p>
            <a:pPr lvl="1"/>
            <a:endParaRPr lang="en-US" dirty="0"/>
          </a:p>
          <a:p>
            <a:r>
              <a:rPr lang="en-US" dirty="0"/>
              <a:t>Exposes probabilistic trends by throwing </a:t>
            </a:r>
            <a:r>
              <a:rPr lang="en-US" i="1" dirty="0"/>
              <a:t>lots</a:t>
            </a:r>
            <a:r>
              <a:rPr lang="en-US" dirty="0"/>
              <a:t> (112M) of dice</a:t>
            </a:r>
          </a:p>
          <a:p>
            <a:endParaRPr lang="en-US" dirty="0"/>
          </a:p>
          <a:p>
            <a:r>
              <a:rPr lang="en-US" sz="2000" dirty="0">
                <a:hlinkClick r:id="rId3"/>
              </a:rPr>
              <a:t>https://github.com/stephen-riley/lds-project-sim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488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A819-0C4B-1142-A6D0-32D53BBB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and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20869-7DB6-6E46-A273-B414F0EC6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Assigned 0-10 scale for military experience</a:t>
            </a:r>
          </a:p>
          <a:p>
            <a:r>
              <a:rPr lang="en-US" dirty="0"/>
              <a:t>Adjusted all other stats to 0-10 range</a:t>
            </a:r>
          </a:p>
          <a:p>
            <a:r>
              <a:rPr lang="en-US" dirty="0"/>
              <a:t>Adjusted round weights (</a:t>
            </a:r>
            <a:r>
              <a:rPr lang="en-US" dirty="0" err="1"/>
              <a:t>eg.</a:t>
            </a:r>
            <a:r>
              <a:rPr lang="en-US" dirty="0"/>
              <a:t> +3 for military experience) to percentage multipliers</a:t>
            </a:r>
          </a:p>
          <a:p>
            <a:pPr lvl="1"/>
            <a:r>
              <a:rPr lang="en-US" dirty="0"/>
              <a:t>+3 becomes 130%</a:t>
            </a:r>
          </a:p>
          <a:p>
            <a:pPr lvl="1"/>
            <a:r>
              <a:rPr lang="en-US" dirty="0"/>
              <a:t>-4 becomes 60%</a:t>
            </a:r>
          </a:p>
          <a:p>
            <a:r>
              <a:rPr lang="en-US" dirty="0"/>
              <a:t>Only used stats that had round weights</a:t>
            </a:r>
          </a:p>
          <a:p>
            <a:endParaRPr lang="en-US" dirty="0"/>
          </a:p>
          <a:p>
            <a:r>
              <a:rPr lang="en-US" dirty="0"/>
              <a:t>(More on Character later)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08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93EA-3F91-2E48-8FC1-D22C8B52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04026-9F0D-A84B-ABB0-7719A02FA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250 times: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do round=1..4: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apply round weights to stats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n = number of presidents to eliminate based on round #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 10,000 times: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while &lt; n presidents have died: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pick 2 remaining presidents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the 2 presidents "fight"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"kill" the one that lost most often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the president who won does NOT get returned to the pool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record win/loss records</a:t>
            </a:r>
          </a:p>
        </p:txBody>
      </p:sp>
    </p:spTree>
    <p:extLst>
      <p:ext uri="{BB962C8B-B14F-4D97-AF65-F5344CB8AC3E}">
        <p14:creationId xmlns:p14="http://schemas.microsoft.com/office/powerpoint/2010/main" val="306332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236C-9CFA-E942-8EA4-45A3A2AA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“fight”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EECB-3620-064B-AD16-BCDD8CFB4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score for each president, S</a:t>
            </a:r>
            <a:r>
              <a:rPr lang="en-US" baseline="-25000" dirty="0"/>
              <a:t>1</a:t>
            </a:r>
            <a:r>
              <a:rPr lang="en-US" dirty="0"/>
              <a:t> and S</a:t>
            </a:r>
            <a:r>
              <a:rPr lang="en-US" baseline="-25000" dirty="0"/>
              <a:t>2</a:t>
            </a:r>
          </a:p>
          <a:p>
            <a:pPr lvl="1"/>
            <a:r>
              <a:rPr lang="en-US" dirty="0" err="1"/>
              <a:t>Σ</a:t>
            </a:r>
            <a:r>
              <a:rPr lang="en-US" dirty="0"/>
              <a:t> stat × weight</a:t>
            </a:r>
          </a:p>
          <a:p>
            <a:r>
              <a:rPr lang="en-US" dirty="0"/>
              <a:t>Pick a random number between 0 and (S</a:t>
            </a:r>
            <a:r>
              <a:rPr lang="en-US" baseline="-25000" dirty="0"/>
              <a:t>1</a:t>
            </a:r>
            <a:r>
              <a:rPr lang="en-US" dirty="0"/>
              <a:t> + S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If number is &lt; S1, president 1 wins</a:t>
            </a:r>
          </a:p>
          <a:p>
            <a:endParaRPr lang="en-US" dirty="0"/>
          </a:p>
          <a:p>
            <a:r>
              <a:rPr lang="en-US" dirty="0"/>
              <a:t>Gives underdogs a chance</a:t>
            </a:r>
          </a:p>
          <a:p>
            <a:pPr lvl="1"/>
            <a:r>
              <a:rPr lang="en-US" dirty="0"/>
              <a:t>…but as # of attempts approaches infinity, that chance disappears</a:t>
            </a:r>
          </a:p>
        </p:txBody>
      </p:sp>
    </p:spTree>
    <p:extLst>
      <p:ext uri="{BB962C8B-B14F-4D97-AF65-F5344CB8AC3E}">
        <p14:creationId xmlns:p14="http://schemas.microsoft.com/office/powerpoint/2010/main" val="33449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39C3-2447-9741-8604-B502DE62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7C1F3-A35C-F546-8C50-EBEEB6A3C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B5B12-6B54-B54A-8B76-A0FDD026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825625"/>
            <a:ext cx="7311583" cy="437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1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F6C9-D69E-4364-92D3-B8108535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5461"/>
          </a:xfrm>
        </p:spPr>
        <p:txBody>
          <a:bodyPr>
            <a:normAutofit fontScale="90000"/>
          </a:bodyPr>
          <a:lstStyle/>
          <a:p>
            <a:r>
              <a:rPr lang="en-US" dirty="0"/>
              <a:t>Character 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CCF9-635D-4E65-BF79-1AEB97DD2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pure simulation model does not account for character as it relates to coalition building.</a:t>
            </a:r>
          </a:p>
          <a:p>
            <a:r>
              <a:rPr lang="en-US" dirty="0"/>
              <a:t>To answer this concern, an alignment chart was created to identify advantages/disadvantages based on the contender’s assessed character.</a:t>
            </a:r>
          </a:p>
          <a:p>
            <a:r>
              <a:rPr lang="en-US" dirty="0"/>
              <a:t>Note: Round 1 and 2 rely more on building coalitions, and Round 3 and 4 rely more on self-preservation. Weighting remained equal, but assessed score was changed based on this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427598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7BEA-6102-42DA-8BEB-D81650E4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5214"/>
          </a:xfrm>
        </p:spPr>
        <p:txBody>
          <a:bodyPr>
            <a:normAutofit fontScale="90000"/>
          </a:bodyPr>
          <a:lstStyle/>
          <a:p>
            <a:r>
              <a:rPr lang="en-US" dirty="0"/>
              <a:t>Round 1 + 2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709874B-EB54-41C3-AC70-FF832BEFA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58349"/>
              </p:ext>
            </p:extLst>
          </p:nvPr>
        </p:nvGraphicFramePr>
        <p:xfrm>
          <a:off x="752272" y="1018163"/>
          <a:ext cx="7886700" cy="493516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86137123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56012308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1416202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120031435"/>
                    </a:ext>
                  </a:extLst>
                </a:gridCol>
              </a:tblGrid>
              <a:tr h="1233792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Authoritarian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Libertarian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087420"/>
                  </a:ext>
                </a:extLst>
              </a:tr>
              <a:tr h="12337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178123"/>
                  </a:ext>
                </a:extLst>
              </a:tr>
              <a:tr h="12337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020692"/>
                  </a:ext>
                </a:extLst>
              </a:tr>
              <a:tr h="12337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Collectivist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4987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04271A-C387-454E-B030-65940B68A6E1}"/>
              </a:ext>
            </a:extLst>
          </p:cNvPr>
          <p:cNvSpPr txBox="1"/>
          <p:nvPr/>
        </p:nvSpPr>
        <p:spPr>
          <a:xfrm>
            <a:off x="862519" y="5928184"/>
            <a:ext cx="7418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 refers to the contender’s intent- high EQ doesn’t always mean collectivist. For round 1 and 2, character is scored as above. Alliances are considered essential to survival in round 1 and 2. </a:t>
            </a:r>
          </a:p>
        </p:txBody>
      </p:sp>
    </p:spTree>
    <p:extLst>
      <p:ext uri="{BB962C8B-B14F-4D97-AF65-F5344CB8AC3E}">
        <p14:creationId xmlns:p14="http://schemas.microsoft.com/office/powerpoint/2010/main" val="3363695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7BEA-6102-42DA-8BEB-D81650E4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75214"/>
          </a:xfrm>
        </p:spPr>
        <p:txBody>
          <a:bodyPr>
            <a:normAutofit fontScale="90000"/>
          </a:bodyPr>
          <a:lstStyle/>
          <a:p>
            <a:r>
              <a:rPr lang="en-US" dirty="0"/>
              <a:t>Round 3 + 4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709874B-EB54-41C3-AC70-FF832BEFA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982849"/>
              </p:ext>
            </p:extLst>
          </p:nvPr>
        </p:nvGraphicFramePr>
        <p:xfrm>
          <a:off x="752272" y="1018163"/>
          <a:ext cx="7886700" cy="493516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86137123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56012308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1416202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120031435"/>
                    </a:ext>
                  </a:extLst>
                </a:gridCol>
              </a:tblGrid>
              <a:tr h="1233792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Authoritarian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Libertarian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087420"/>
                  </a:ext>
                </a:extLst>
              </a:tr>
              <a:tr h="12337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178123"/>
                  </a:ext>
                </a:extLst>
              </a:tr>
              <a:tr h="12337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020692"/>
                  </a:ext>
                </a:extLst>
              </a:tr>
              <a:tr h="12337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Collectivist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4987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04271A-C387-454E-B030-65940B68A6E1}"/>
              </a:ext>
            </a:extLst>
          </p:cNvPr>
          <p:cNvSpPr txBox="1"/>
          <p:nvPr/>
        </p:nvSpPr>
        <p:spPr>
          <a:xfrm>
            <a:off x="862519" y="5928184"/>
            <a:ext cx="7418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 refers to the contender’s intent. In Round 3, betrayal and self-preservation become key tools for survival. Overall weighting for character decreases, but assessed scores flip as above.</a:t>
            </a:r>
          </a:p>
        </p:txBody>
      </p:sp>
    </p:spTree>
    <p:extLst>
      <p:ext uri="{BB962C8B-B14F-4D97-AF65-F5344CB8AC3E}">
        <p14:creationId xmlns:p14="http://schemas.microsoft.com/office/powerpoint/2010/main" val="3313195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7BEA-6102-42DA-8BEB-D81650E4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5503"/>
            <a:ext cx="9206753" cy="57521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Presidential Grouping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709874B-EB54-41C3-AC70-FF832BEFA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87626"/>
              </p:ext>
            </p:extLst>
          </p:nvPr>
        </p:nvGraphicFramePr>
        <p:xfrm>
          <a:off x="0" y="590716"/>
          <a:ext cx="9144000" cy="64606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6137123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6012308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1416202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20031435"/>
                    </a:ext>
                  </a:extLst>
                </a:gridCol>
              </a:tblGrid>
              <a:tr h="1269671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Authoritarian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Libertarian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087420"/>
                  </a:ext>
                </a:extLst>
              </a:tr>
              <a:tr h="178694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Monroe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Tyler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Johnson, A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McKinley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Wilson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Ford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Reagan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Taft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Pierce</a:t>
                      </a:r>
                    </a:p>
                    <a:p>
                      <a:pPr algn="l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Madison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Buchanan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Cleveland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Harding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Coolidge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178123"/>
                  </a:ext>
                </a:extLst>
              </a:tr>
              <a:tr h="126967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Adams (Younger)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Teddy Roosevelt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Nixon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Bush (Younger)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Adams (Elder)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Harrison (Elder)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Filmore</a:t>
                      </a:r>
                    </a:p>
                    <a:p>
                      <a:pPr algn="l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Hoover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Arthur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Bush (Elder)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Taylor</a:t>
                      </a:r>
                    </a:p>
                    <a:p>
                      <a:pPr algn="l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Washington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Jefferson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Hayes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Clinton</a:t>
                      </a:r>
                    </a:p>
                    <a:p>
                      <a:pPr algn="l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020692"/>
                  </a:ext>
                </a:extLst>
              </a:tr>
              <a:tr h="19409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Collectivist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Jackson 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Van Buren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Lincoln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Garfield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FDR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Truman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Kennedy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LBJ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Obama</a:t>
                      </a:r>
                    </a:p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Harrison (younger)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Eisenhower</a:t>
                      </a:r>
                    </a:p>
                    <a:p>
                      <a:pPr algn="l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98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857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1167-98A9-4349-B616-4F649BA0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 note…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F85A-9360-D041-8AF7-EC535F3B9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Reagan </a:t>
            </a:r>
            <a:r>
              <a:rPr lang="en-US" i="1" dirty="0"/>
              <a:t>did</a:t>
            </a:r>
            <a:r>
              <a:rPr lang="en-US" dirty="0"/>
              <a:t> survive the second round, he was much more successful in Round 3 than his immediate peers</a:t>
            </a:r>
          </a:p>
          <a:p>
            <a:endParaRPr lang="en-US" dirty="0"/>
          </a:p>
          <a:p>
            <a:r>
              <a:rPr lang="en-US" dirty="0"/>
              <a:t>Demonstrates the importance of the by-round weights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1F766-20C8-E74F-870E-7BE22082C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73" y="1830084"/>
            <a:ext cx="60071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98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879</TotalTime>
  <Words>578</Words>
  <Application>Microsoft Macintosh PowerPoint</Application>
  <PresentationFormat>On-screen Show (4:3)</PresentationFormat>
  <Paragraphs>144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WAARNG G5 and 18 U.S.C. § 871</vt:lpstr>
      <vt:lpstr>PBR as RPG</vt:lpstr>
      <vt:lpstr>Assumptions and constraints</vt:lpstr>
      <vt:lpstr>Simulation structure</vt:lpstr>
      <vt:lpstr>How they “fight”</vt:lpstr>
      <vt:lpstr>Results</vt:lpstr>
      <vt:lpstr>Character counts</vt:lpstr>
      <vt:lpstr>Round 1 + 2</vt:lpstr>
      <vt:lpstr>Round 3 + 4</vt:lpstr>
      <vt:lpstr>Presidential Grouping</vt:lpstr>
      <vt:lpstr>Of note…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WAARNG G5 and 18 U.S.C. § 871</dc:title>
  <dc:creator>Stephen Riley</dc:creator>
  <cp:lastModifiedBy>Stephen Riley</cp:lastModifiedBy>
  <cp:revision>12</cp:revision>
  <dcterms:created xsi:type="dcterms:W3CDTF">2021-11-03T19:34:35Z</dcterms:created>
  <dcterms:modified xsi:type="dcterms:W3CDTF">2021-11-04T19:28:40Z</dcterms:modified>
</cp:coreProperties>
</file>